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sldIdLst>
    <p:sldId id="256" r:id="rId2"/>
    <p:sldId id="271" r:id="rId3"/>
    <p:sldId id="257" r:id="rId4"/>
    <p:sldId id="258" r:id="rId5"/>
    <p:sldId id="259" r:id="rId6"/>
    <p:sldId id="276" r:id="rId7"/>
    <p:sldId id="260" r:id="rId8"/>
    <p:sldId id="261" r:id="rId9"/>
    <p:sldId id="262" r:id="rId10"/>
    <p:sldId id="272" r:id="rId11"/>
    <p:sldId id="273" r:id="rId12"/>
    <p:sldId id="274" r:id="rId13"/>
    <p:sldId id="275" r:id="rId14"/>
    <p:sldId id="263" r:id="rId15"/>
    <p:sldId id="270" r:id="rId16"/>
    <p:sldId id="264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993FF-804C-4DB3-BC16-E8DDEE0D42A3}" v="16" dt="2025-12-17T14:54:46.532"/>
    <p1510:client id="{ADFD7867-75C3-42AE-9024-449AB62F4121}" v="100" dt="2025-12-17T15:16:38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8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22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3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9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1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9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52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2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1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6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61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796" r:id="rId6"/>
    <p:sldLayoutId id="2147483792" r:id="rId7"/>
    <p:sldLayoutId id="2147483793" r:id="rId8"/>
    <p:sldLayoutId id="2147483794" r:id="rId9"/>
    <p:sldLayoutId id="2147483795" r:id="rId10"/>
    <p:sldLayoutId id="214748379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411BE1D3-B675-4947-B4E3-14B8DC93F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Triangle 58">
            <a:extLst>
              <a:ext uri="{FF2B5EF4-FFF2-40B4-BE49-F238E27FC236}">
                <a16:creationId xmlns:a16="http://schemas.microsoft.com/office/drawing/2014/main" id="{D2D8651B-6FCC-49D7-B6F8-AF869E89F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C13C5A7-AC21-48FA-A06F-6A7F303BC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F262F85-28C5-406E-86B5-21B5007975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E46736-4910-4C3D-A602-EA961B5B9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C95156-5BFF-4DE7-B263-E72A6236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CC6A642-5940-409E-BA90-465C2A814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2D9B4F-73D1-4F08-BED3-050F005D0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BADE15-4CCA-4FB3-A2E1-F2B70EC8E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B84EC39-7B8E-4610-A1D0-64B4DC63E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61CE688-F428-4557-8D39-912F63B57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A0A277E-6B5F-4EA7-927D-072AE79F0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F8762B1-DD2A-4691-BAA0-FCF140D803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10B872-619E-4CDC-BBC2-2B8512F5E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55518C1-8F67-4B56-B385-0E4947C32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83AD748-761F-44A2-BF90-DBA3EDB4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6015257-A8BA-4AFA-943B-9CC961D83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21F0F86-489E-43A6-8315-852470267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5C90D9E-C664-4A5F-BC20-D76DDB874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81936AF-8AA7-4931-8575-88CAD33AD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DDF1762F-6360-4C8F-9E4A-C7DE8C4C3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559C29F-E778-464B-A96A-079815C233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AD9E72B-D3BF-4D27-A601-1D2E7DE83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CB8422D-924B-45F5-8A16-0F8AC8FDC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7D55B22-5D5C-4F9B-9530-BB9DE6375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A093CBE-3A15-4A43-A536-2EE3B6524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A289A63-846E-4F02-A373-B072C2EAF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2B62319-B036-4232-A230-5DD9F9EE1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3B242B-F116-42CC-AC41-373E24D4A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3F63EA7-9511-4DDD-962B-5C5C5131A9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EE9C8DA-BB76-4CFF-AFD5-4E054A62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A2F3C61A-326D-45E1-8FDF-B346F1625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FBEEB7B-6D5D-47E6-836B-1843CF810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1FF47F77-62CD-47D4-BB10-B751B9DAC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078" y="1275018"/>
            <a:ext cx="7374816" cy="269350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/>
              <a:t>AI COLLEGE COUNSELOR FOR PERSONALIZED CAREER AND COURSE ADVICE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8274" y="3964054"/>
            <a:ext cx="5246320" cy="2338048"/>
          </a:xfrm>
        </p:spPr>
        <p:txBody>
          <a:bodyPr anchor="b">
            <a:normAutofit fontScale="92500" lnSpcReduction="20000"/>
          </a:bodyPr>
          <a:lstStyle/>
          <a:p>
            <a:r>
              <a:rPr lang="en-US" dirty="0"/>
              <a:t>Presented By </a:t>
            </a:r>
            <a:endParaRPr lang="en-US"/>
          </a:p>
          <a:p>
            <a:r>
              <a:rPr lang="en-US" dirty="0"/>
              <a:t>Team-16</a:t>
            </a:r>
          </a:p>
          <a:p>
            <a:r>
              <a:rPr lang="en-US" sz="1800" dirty="0"/>
              <a:t>K.BHAVANI(23NG1A5428)</a:t>
            </a:r>
          </a:p>
          <a:p>
            <a:r>
              <a:rPr lang="en-US" sz="1800" dirty="0"/>
              <a:t>K.HARSHITHA SAI (23NG1A5429)</a:t>
            </a:r>
          </a:p>
          <a:p>
            <a:r>
              <a:rPr lang="en-US" sz="1800" dirty="0"/>
              <a:t>Y.SIVA PRASAD (23NG1A5463)</a:t>
            </a:r>
          </a:p>
          <a:p>
            <a:r>
              <a:rPr lang="en-US" sz="1800" dirty="0"/>
              <a:t>K.PRASAD (23NG1A5423)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8B97-24CD-E39A-9DDA-464C6EC3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D18CB-D67E-6A5B-347F-4C0FAA47A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ABSTRACT</a:t>
            </a:r>
          </a:p>
          <a:p>
            <a:pPr>
              <a:buClr>
                <a:srgbClr val="8D87A6"/>
              </a:buClr>
            </a:pPr>
            <a:r>
              <a:rPr lang="en-US"/>
              <a:t>KEYWORDS</a:t>
            </a:r>
          </a:p>
          <a:p>
            <a:pPr>
              <a:buClr>
                <a:srgbClr val="8D87A6"/>
              </a:buClr>
            </a:pPr>
            <a:r>
              <a:rPr lang="en-US"/>
              <a:t>INTRODUCTION </a:t>
            </a:r>
          </a:p>
          <a:p>
            <a:pPr>
              <a:buClr>
                <a:srgbClr val="8D87A6"/>
              </a:buClr>
            </a:pPr>
            <a:r>
              <a:rPr lang="en-US" dirty="0"/>
              <a:t>LITERATURE SURVEY</a:t>
            </a:r>
          </a:p>
          <a:p>
            <a:pPr>
              <a:buClr>
                <a:srgbClr val="8D87A6"/>
              </a:buClr>
            </a:pPr>
            <a:r>
              <a:rPr lang="en-US"/>
              <a:t>DATA COLLECTION AND ALGORITHMS </a:t>
            </a:r>
          </a:p>
          <a:p>
            <a:pPr>
              <a:buClr>
                <a:srgbClr val="8D87A6"/>
              </a:buClr>
            </a:pPr>
            <a:r>
              <a:rPr lang="en-US"/>
              <a:t>INPUTS AND OUTPUTS</a:t>
            </a:r>
          </a:p>
          <a:p>
            <a:pPr>
              <a:buClr>
                <a:srgbClr val="8D87A6"/>
              </a:buClr>
            </a:pPr>
            <a:r>
              <a:rPr lang="en-US"/>
              <a:t>IMPLEMENTATION</a:t>
            </a:r>
          </a:p>
          <a:p>
            <a:pPr>
              <a:buClr>
                <a:srgbClr val="8D87A6"/>
              </a:buClr>
            </a:pPr>
            <a:r>
              <a:rPr lang="en-US"/>
              <a:t>OVERVIEW</a:t>
            </a:r>
          </a:p>
          <a:p>
            <a:pPr>
              <a:buClr>
                <a:srgbClr val="8D87A6"/>
              </a:buClr>
            </a:pPr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5392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DB9E-35F2-29DF-EE3F-DF07592A9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FA94-AFC8-176F-9C5D-138EB9E47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This presentation introduces an innovative AI-powered college counseling system designed to revolutionize career guidance in India. 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The system provides highly personalized career recommendations and course suggestions by intelligently analyzing student profiles, academic interests, personality traits, and real-time </a:t>
            </a:r>
            <a:r>
              <a:rPr lang="en-US" dirty="0" err="1">
                <a:ea typeface="+mn-lt"/>
                <a:cs typeface="+mn-lt"/>
              </a:rPr>
              <a:t>labour</a:t>
            </a:r>
            <a:r>
              <a:rPr lang="en-US" dirty="0">
                <a:ea typeface="+mn-lt"/>
                <a:cs typeface="+mn-lt"/>
              </a:rPr>
              <a:t> market trends.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 By leveraging advanced machine learning algorithms and comprehensive data analytics, this solution addresses the critical gap in traditional counseling services.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C10A-49A0-25DD-18A1-96E33510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511E0-2570-E381-0A72-3EB5F4CF8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AI Counseling 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Machine learning 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Personalized career advice 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Student success 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Course recommendation 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Educational technology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09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4E148-F1AE-733E-D690-000DCFD39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1A72-0A6F-8774-57D1-57E48D8A2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AI College Counselor is a smart digital advisor designed to guide students in choosing the right career path and academic courses. 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By analyzing each student’s interests, skills, and goals, it provides personalized recommendations, helping them make informed decisions about college programs, specializations, and future careers. 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With quick responses and tailored suggestions, this AI counselor makes planning for higher education easier, more accurate, and student-focused.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Offers 24/7 access to guidance, reducing dependency on human counselors.</a:t>
            </a:r>
            <a:endParaRPr lang="en-US" dirty="0"/>
          </a:p>
          <a:p>
            <a:pPr>
              <a:buClr>
                <a:srgbClr val="8D87A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5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E9FA22-C16F-8A3F-3FE3-52803020DCE7}"/>
              </a:ext>
            </a:extLst>
          </p:cNvPr>
          <p:cNvSpPr txBox="1"/>
          <p:nvPr/>
        </p:nvSpPr>
        <p:spPr>
          <a:xfrm>
            <a:off x="628136" y="679622"/>
            <a:ext cx="9246972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000" dirty="0"/>
              <a:t>Improves decision-making through </a:t>
            </a:r>
            <a:r>
              <a:rPr lang="en-US" sz="2000" b="1" dirty="0"/>
              <a:t>data-driven and unbiased recommendations</a:t>
            </a:r>
            <a:r>
              <a:rPr lang="en-US" sz="2000" dirty="0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Maintains </a:t>
            </a:r>
            <a:r>
              <a:rPr lang="en-US" sz="2000" b="1" dirty="0"/>
              <a:t>data privacy, fairness, and ethical AI practices</a:t>
            </a:r>
            <a:r>
              <a:rPr lang="en-US" sz="2000" dirty="0"/>
              <a:t>.</a:t>
            </a:r>
          </a:p>
          <a:p>
            <a:pPr marL="228600" indent="-228600">
              <a:buFont typeface=""/>
              <a:buChar char="•"/>
            </a:pPr>
            <a:r>
              <a:rPr lang="en-US" sz="2000" dirty="0"/>
              <a:t>Supports </a:t>
            </a:r>
            <a:r>
              <a:rPr lang="en-US" sz="2000" b="1" dirty="0"/>
              <a:t>human-AI collaboration</a:t>
            </a:r>
            <a:r>
              <a:rPr lang="en-US" sz="2000" dirty="0"/>
              <a:t>, where AI assists counselors rather than replacing them.</a:t>
            </a:r>
          </a:p>
          <a:p>
            <a:pPr marL="228600" indent="-228600">
              <a:buFont typeface=""/>
              <a:buChar char="•"/>
            </a:pPr>
            <a:r>
              <a:rPr lang="en-US" sz="2000" dirty="0">
                <a:ea typeface="+mn-lt"/>
                <a:cs typeface="+mn-lt"/>
              </a:rPr>
              <a:t>Can be used in </a:t>
            </a:r>
            <a:r>
              <a:rPr lang="en-US" sz="2000" b="1" dirty="0">
                <a:ea typeface="+mn-lt"/>
                <a:cs typeface="+mn-lt"/>
              </a:rPr>
              <a:t>schools, colleges, universities, and career guidance platforms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Incorporates </a:t>
            </a:r>
            <a:r>
              <a:rPr lang="en-US" sz="2000" b="1" dirty="0">
                <a:ea typeface="+mn-lt"/>
                <a:cs typeface="+mn-lt"/>
              </a:rPr>
              <a:t>Natural Language Processing (NLP)</a:t>
            </a:r>
            <a:r>
              <a:rPr lang="en-US" sz="2000" dirty="0">
                <a:ea typeface="+mn-lt"/>
                <a:cs typeface="+mn-lt"/>
              </a:rPr>
              <a:t> to interact with students through a chatbot interface.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Provides </a:t>
            </a:r>
            <a:r>
              <a:rPr lang="en-US" sz="2000" b="1" dirty="0">
                <a:ea typeface="+mn-lt"/>
                <a:cs typeface="+mn-lt"/>
              </a:rPr>
              <a:t>career path suggestions</a:t>
            </a:r>
            <a:r>
              <a:rPr lang="en-US" sz="2000" dirty="0">
                <a:ea typeface="+mn-lt"/>
                <a:cs typeface="+mn-lt"/>
              </a:rPr>
              <a:t> based on skills, aptitude, and job-market trends.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Applies </a:t>
            </a:r>
            <a:r>
              <a:rPr lang="en-US" sz="2000" b="1" dirty="0">
                <a:ea typeface="+mn-lt"/>
                <a:cs typeface="+mn-lt"/>
              </a:rPr>
              <a:t>predictive analytics</a:t>
            </a:r>
            <a:r>
              <a:rPr lang="en-US" sz="2000" dirty="0">
                <a:ea typeface="+mn-lt"/>
                <a:cs typeface="+mn-lt"/>
              </a:rPr>
              <a:t> to estimate student success, performance, and potential risks.</a:t>
            </a:r>
            <a:endParaRPr lang="en-US" dirty="0"/>
          </a:p>
          <a:p>
            <a:pPr marL="228600" indent="-228600">
              <a:buFont typeface=""/>
              <a:buChar char="•"/>
            </a:pPr>
            <a:endParaRPr lang="en-US" sz="2000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5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F1BC4-128C-FFEB-4668-76076580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6DB18-8F07-D80B-0960-042917312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Proven Impact on Career Readiness Research from CareerVillage.org demonstrates that AI powered counseling improves student career readiness by an impressive 90%, significantly outperforming traditional methods.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 College Match Point (2025) emphasizes critical factors: ensuring transparency in AI decision-making, maintaining equity across socioeconomic groups, and preserving authentic student voice in the counseling process.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Studies by UNIRANKS (2025) show AI successfully integrates psychometric assessments, </a:t>
            </a:r>
            <a:r>
              <a:rPr lang="en-US" dirty="0" err="1">
                <a:ea typeface="+mn-lt"/>
                <a:cs typeface="+mn-lt"/>
              </a:rPr>
              <a:t>labour</a:t>
            </a:r>
            <a:r>
              <a:rPr lang="en-US" dirty="0">
                <a:ea typeface="+mn-lt"/>
                <a:cs typeface="+mn-lt"/>
              </a:rPr>
              <a:t> market analytics, and personalized roadmaps to create holistic guidance systems.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832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34DAD-7755-BA66-503E-53731E2C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&amp;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87F0A-7CFC-C418-A894-7A8FBE7FB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Student academic records 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User input / questionnaires 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Psychometric assessments/ Personality tests,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Institutional course catalogs </a:t>
            </a:r>
            <a:endParaRPr lang="en-US">
              <a:ea typeface="+mn-lt"/>
              <a:cs typeface="+mn-lt"/>
            </a:endParaRP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Labor-market and industry data Job openings</a:t>
            </a:r>
          </a:p>
          <a:p>
            <a:pPr>
              <a:buClr>
                <a:srgbClr val="8D87A6"/>
              </a:buClr>
            </a:pPr>
            <a:r>
              <a:rPr lang="en-US" dirty="0">
                <a:ea typeface="+mn-lt"/>
                <a:cs typeface="+mn-lt"/>
              </a:rPr>
              <a:t>Interaction logs </a:t>
            </a:r>
          </a:p>
          <a:p>
            <a:pPr marL="0" indent="0">
              <a:buClr>
                <a:srgbClr val="8D87A6"/>
              </a:buClr>
              <a:buNone/>
            </a:pPr>
            <a:r>
              <a:rPr lang="en-US" dirty="0"/>
              <a:t>Mostly from these topics the data is collected .</a:t>
            </a:r>
          </a:p>
        </p:txBody>
      </p:sp>
    </p:spTree>
    <p:extLst>
      <p:ext uri="{BB962C8B-B14F-4D97-AF65-F5344CB8AC3E}">
        <p14:creationId xmlns:p14="http://schemas.microsoft.com/office/powerpoint/2010/main" val="3684765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E2D8C-E6CE-B9DF-D1EE-433F6562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017083"/>
          </a:xfrm>
        </p:spPr>
        <p:txBody>
          <a:bodyPr>
            <a:normAutofit/>
          </a:bodyPr>
          <a:lstStyle/>
          <a:p>
            <a:r>
              <a:rPr lang="en-US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E9C75-4993-2919-AF80-06BCE35EC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268050"/>
            <a:ext cx="10325000" cy="363651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1. Recommendation Algorithms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2. Natural Language Processing Algorithms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3. Machine Learning Algorithms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4. Predictive Analytics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995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DAB4B5-8E38-CF76-A821-CFB55A9CFC11}"/>
              </a:ext>
            </a:extLst>
          </p:cNvPr>
          <p:cNvSpPr txBox="1"/>
          <p:nvPr/>
        </p:nvSpPr>
        <p:spPr>
          <a:xfrm>
            <a:off x="601015" y="531255"/>
            <a:ext cx="8542985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1. Recommendation Algorithms</a:t>
            </a:r>
          </a:p>
          <a:p>
            <a:r>
              <a:rPr lang="en-US" sz="2000" b="1" dirty="0"/>
              <a:t>Purpose:</a:t>
            </a:r>
            <a:br>
              <a:rPr lang="en-US" sz="2000" dirty="0"/>
            </a:br>
            <a:r>
              <a:rPr lang="en-US" sz="2000" dirty="0"/>
              <a:t>Suggest the best </a:t>
            </a:r>
            <a:r>
              <a:rPr lang="en-US" sz="2000" b="1" dirty="0"/>
              <a:t>colleges, courses, and specialization options</a:t>
            </a:r>
            <a:r>
              <a:rPr lang="en-US" sz="2000" dirty="0"/>
              <a:t> for a student.</a:t>
            </a:r>
          </a:p>
          <a:p>
            <a:r>
              <a:rPr lang="en-US" sz="2000" b="1" dirty="0"/>
              <a:t>Algorithms Used &amp; What They Do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Content-Based Filtering</a:t>
            </a:r>
            <a:br>
              <a:rPr lang="en-US" sz="2000" dirty="0"/>
            </a:br>
            <a:r>
              <a:rPr lang="en-US" sz="2000" dirty="0"/>
              <a:t>Recommends options by matching student interests, skills, and academic profile with course/college features.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Collaborative Filtering</a:t>
            </a:r>
            <a:br>
              <a:rPr lang="en-US" sz="2000" dirty="0"/>
            </a:br>
            <a:r>
              <a:rPr lang="en-US" sz="2000" dirty="0"/>
              <a:t>Suggests courses or colleges chosen by students with similar profiles or academic behavior.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Hybrid Recommendation</a:t>
            </a:r>
            <a:br>
              <a:rPr lang="en-US" sz="2000" dirty="0"/>
            </a:br>
            <a:r>
              <a:rPr lang="en-US" sz="2000" dirty="0"/>
              <a:t>Combines content-based and collaborative filtering to improve accuracy and reduce limitations.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Matrix Factorization (SVD, ALS)</a:t>
            </a:r>
            <a:br>
              <a:rPr lang="en-US" sz="2000" dirty="0"/>
            </a:br>
            <a:r>
              <a:rPr lang="en-US" sz="2000" dirty="0"/>
              <a:t>Identifies hidden relationships between students and courses to predict suitable choices.</a:t>
            </a:r>
          </a:p>
          <a:p>
            <a:endParaRPr lang="en-US" sz="2000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42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52C5C-B2FF-4FC3-633E-733EE77D4C70}"/>
              </a:ext>
            </a:extLst>
          </p:cNvPr>
          <p:cNvSpPr txBox="1"/>
          <p:nvPr/>
        </p:nvSpPr>
        <p:spPr>
          <a:xfrm>
            <a:off x="719071" y="1239592"/>
            <a:ext cx="8424929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2. NLP Algorithms</a:t>
            </a:r>
          </a:p>
          <a:p>
            <a:r>
              <a:rPr lang="en-US" sz="2000" b="1" dirty="0"/>
              <a:t>Purpose:</a:t>
            </a:r>
            <a:br>
              <a:rPr lang="en-US" sz="2000" dirty="0"/>
            </a:br>
            <a:r>
              <a:rPr lang="en-US" sz="2000" dirty="0"/>
              <a:t>Enable the system to </a:t>
            </a:r>
            <a:r>
              <a:rPr lang="en-US" sz="2000" b="1" dirty="0"/>
              <a:t>understand student queries</a:t>
            </a:r>
            <a:r>
              <a:rPr lang="en-US" sz="2000" dirty="0"/>
              <a:t> and provide intelligent responses via a chatbot.</a:t>
            </a:r>
          </a:p>
          <a:p>
            <a:r>
              <a:rPr lang="en-US" sz="2000" b="1" dirty="0"/>
              <a:t>Algorithms Used &amp; What They Do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Transformer Models (BERT, GPT, RAG)</a:t>
            </a:r>
            <a:br>
              <a:rPr lang="en-US" sz="2000" dirty="0"/>
            </a:br>
            <a:r>
              <a:rPr lang="en-US" sz="2000" dirty="0"/>
              <a:t>Understand context, generate responses, and retrieve accurate career/course information.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Intent Classification (SVM, Naive Bayes, Neural Networks)</a:t>
            </a:r>
            <a:br>
              <a:rPr lang="en-US" sz="2000" dirty="0"/>
            </a:br>
            <a:r>
              <a:rPr lang="en-US" sz="2000" dirty="0"/>
              <a:t>Identifies the student’s intent (e.g., career advice, course selection).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Named Entity Recognition (NER)</a:t>
            </a:r>
            <a:br>
              <a:rPr lang="en-US" sz="2000" dirty="0"/>
            </a:br>
            <a:r>
              <a:rPr lang="en-US" sz="2000" dirty="0"/>
              <a:t>Extracts important entities such as college names, courses, skills, and domains.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Text Similarity Algorithms (Cosine Similarity, SBERT)</a:t>
            </a:r>
            <a:br>
              <a:rPr lang="en-US" sz="2000" dirty="0"/>
            </a:br>
            <a:r>
              <a:rPr lang="en-US" sz="2000" dirty="0"/>
              <a:t>Matches student queries with relevant information or answers.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157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5772CF-8AA8-20F5-425F-8A52219A1E64}"/>
              </a:ext>
            </a:extLst>
          </p:cNvPr>
          <p:cNvSpPr txBox="1"/>
          <p:nvPr/>
        </p:nvSpPr>
        <p:spPr>
          <a:xfrm>
            <a:off x="740536" y="1014212"/>
            <a:ext cx="9079604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3. Machine Learning Algorithms</a:t>
            </a:r>
          </a:p>
          <a:p>
            <a:r>
              <a:rPr lang="en-US" sz="2000" b="1" dirty="0"/>
              <a:t>Purpose:</a:t>
            </a:r>
            <a:br>
              <a:rPr lang="en-US" sz="2000" dirty="0"/>
            </a:br>
            <a:r>
              <a:rPr lang="en-US" sz="2000" dirty="0"/>
              <a:t>Analyze student data to </a:t>
            </a:r>
            <a:r>
              <a:rPr lang="en-US" sz="2000" b="1" dirty="0"/>
              <a:t>classify, cluster, and predict</a:t>
            </a:r>
            <a:r>
              <a:rPr lang="en-US" sz="2000" dirty="0"/>
              <a:t> outcomes.</a:t>
            </a:r>
          </a:p>
          <a:p>
            <a:r>
              <a:rPr lang="en-US" sz="2000" b="1" dirty="0"/>
              <a:t>Algorithms Used &amp; What They Do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Decision Trees</a:t>
            </a:r>
            <a:br>
              <a:rPr lang="en-US" sz="2000" dirty="0"/>
            </a:br>
            <a:r>
              <a:rPr lang="en-US" sz="2000" dirty="0"/>
              <a:t>Classifies students into streams or career paths based on features.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Random Forest</a:t>
            </a:r>
            <a:br>
              <a:rPr lang="en-US" sz="2000" dirty="0"/>
            </a:br>
            <a:r>
              <a:rPr lang="en-US" sz="2000" dirty="0"/>
              <a:t>Predicts career suitability or performance using multiple decision trees.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Support Vector Machine (SVM)</a:t>
            </a:r>
            <a:br>
              <a:rPr lang="en-US" sz="2000" dirty="0"/>
            </a:br>
            <a:r>
              <a:rPr lang="en-US" sz="2000" dirty="0"/>
              <a:t>Classifies students into career categories based on academic and psychometric data.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K-Means Clustering</a:t>
            </a:r>
            <a:br>
              <a:rPr lang="en-US" sz="2000" dirty="0"/>
            </a:br>
            <a:r>
              <a:rPr lang="en-US" sz="2000" dirty="0"/>
              <a:t>Groups students with similar interests, skills, or performance.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Gradient Boosting (</a:t>
            </a:r>
            <a:r>
              <a:rPr lang="en-US" sz="2000" b="1" err="1"/>
              <a:t>XGBoost</a:t>
            </a:r>
            <a:r>
              <a:rPr lang="en-US" sz="2000" b="1" dirty="0"/>
              <a:t>, </a:t>
            </a:r>
            <a:r>
              <a:rPr lang="en-US" sz="2000" b="1" err="1"/>
              <a:t>LightGBM</a:t>
            </a:r>
            <a:r>
              <a:rPr lang="en-US" sz="2000" b="1" dirty="0"/>
              <a:t>)</a:t>
            </a:r>
            <a:br>
              <a:rPr lang="en-US" sz="2000" dirty="0"/>
            </a:br>
            <a:r>
              <a:rPr lang="en-US" sz="2000" dirty="0"/>
              <a:t>Provides highly accurate predictions of success or career fit.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4201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34C09A-A90E-E640-3A93-C9855C4BEFCF}"/>
              </a:ext>
            </a:extLst>
          </p:cNvPr>
          <p:cNvSpPr txBox="1"/>
          <p:nvPr/>
        </p:nvSpPr>
        <p:spPr>
          <a:xfrm>
            <a:off x="772733" y="928353"/>
            <a:ext cx="8371267" cy="49859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4. Predictive Analytics</a:t>
            </a:r>
          </a:p>
          <a:p>
            <a:r>
              <a:rPr lang="en-US" sz="2000" b="1" dirty="0"/>
              <a:t>Purpose:</a:t>
            </a:r>
            <a:br>
              <a:rPr lang="en-US" sz="2000" dirty="0"/>
            </a:br>
            <a:r>
              <a:rPr lang="en-US" sz="2000" dirty="0"/>
              <a:t>Predict </a:t>
            </a:r>
            <a:r>
              <a:rPr lang="en-US" sz="2000" b="1" dirty="0"/>
              <a:t>student outcomes, career success, and risk factors</a:t>
            </a:r>
            <a:r>
              <a:rPr lang="en-US" sz="2000" dirty="0"/>
              <a:t>.</a:t>
            </a:r>
          </a:p>
          <a:p>
            <a:r>
              <a:rPr lang="en-US" sz="2000" b="1" dirty="0"/>
              <a:t>Algorithms Used &amp; What They Do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Logistic Regression</a:t>
            </a:r>
            <a:br>
              <a:rPr lang="en-US" sz="2000" dirty="0"/>
            </a:br>
            <a:r>
              <a:rPr lang="en-US" sz="2000" dirty="0"/>
              <a:t>Predicts probability of success, failure, or dropout risk.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Random Forest</a:t>
            </a:r>
            <a:br>
              <a:rPr lang="en-US" sz="2000" dirty="0"/>
            </a:br>
            <a:r>
              <a:rPr lang="en-US" sz="2000" dirty="0"/>
              <a:t>Estimates performance, career alignment, and success likelihood.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Neural Networks (ANN)</a:t>
            </a:r>
            <a:br>
              <a:rPr lang="en-US" sz="2000" dirty="0"/>
            </a:br>
            <a:r>
              <a:rPr lang="en-US" sz="2000" dirty="0"/>
              <a:t>Learns complex patterns to predict long-term career success.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Time-Series Models (LSTM, GRU)</a:t>
            </a:r>
            <a:br>
              <a:rPr lang="en-US" sz="2000" dirty="0"/>
            </a:br>
            <a:r>
              <a:rPr lang="en-US" sz="2000" dirty="0"/>
              <a:t>Predicts academic progress over time (semester-wise performance).</a:t>
            </a:r>
          </a:p>
          <a:p>
            <a:pPr marL="228600" indent="-228600">
              <a:buFont typeface=""/>
              <a:buChar char="•"/>
            </a:pPr>
            <a:r>
              <a:rPr lang="en-US" sz="2000" b="1" dirty="0"/>
              <a:t>Survival Analysis Models</a:t>
            </a:r>
            <a:br>
              <a:rPr lang="en-US" sz="2000" dirty="0"/>
            </a:br>
            <a:r>
              <a:rPr lang="en-US" sz="2000" dirty="0"/>
              <a:t>Estimates time-to-event outcomes such as dropout or course completion.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10385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FB315-096F-AC15-AA4F-F6030B58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INPUTS AND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3B161-C90D-D8D5-7D02-D1D7FD82B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39660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1.SKILLS                                                                        </a:t>
            </a:r>
          </a:p>
          <a:p>
            <a:pPr>
              <a:buClr>
                <a:srgbClr val="8D87A6"/>
              </a:buClr>
            </a:pPr>
            <a:r>
              <a:rPr lang="en-US" sz="1800" dirty="0">
                <a:ea typeface="+mn-lt"/>
                <a:cs typeface="+mn-lt"/>
              </a:rPr>
              <a:t>2. CAREER GOALS </a:t>
            </a:r>
          </a:p>
          <a:p>
            <a:pPr>
              <a:buClr>
                <a:srgbClr val="8D87A6"/>
              </a:buClr>
            </a:pPr>
            <a:r>
              <a:rPr lang="en-US" sz="1800" dirty="0">
                <a:ea typeface="+mn-lt"/>
                <a:cs typeface="+mn-lt"/>
              </a:rPr>
              <a:t>3.EDUCATION </a:t>
            </a:r>
          </a:p>
          <a:p>
            <a:pPr>
              <a:buClr>
                <a:srgbClr val="8D87A6"/>
              </a:buClr>
            </a:pPr>
            <a:r>
              <a:rPr lang="en-US" sz="1800" dirty="0">
                <a:ea typeface="+mn-lt"/>
                <a:cs typeface="+mn-lt"/>
              </a:rPr>
              <a:t>4.FIELD OF STUDY </a:t>
            </a:r>
          </a:p>
          <a:p>
            <a:pPr>
              <a:buClr>
                <a:srgbClr val="8D87A6"/>
              </a:buClr>
            </a:pPr>
            <a:r>
              <a:rPr lang="en-US" sz="1800" dirty="0">
                <a:ea typeface="+mn-lt"/>
                <a:cs typeface="+mn-lt"/>
              </a:rPr>
              <a:t>5. GPA/GRADE/MARKS/PERCENTAGE </a:t>
            </a:r>
            <a:endParaRPr lang="en-US" sz="1800">
              <a:ea typeface="+mn-lt"/>
              <a:cs typeface="+mn-lt"/>
            </a:endParaRPr>
          </a:p>
          <a:p>
            <a:pPr>
              <a:buClr>
                <a:srgbClr val="8D87A6"/>
              </a:buClr>
            </a:pPr>
            <a:r>
              <a:rPr lang="en-US" sz="1800" dirty="0">
                <a:ea typeface="+mn-lt"/>
                <a:cs typeface="+mn-lt"/>
              </a:rPr>
              <a:t>6.EXPERIENCE </a:t>
            </a:r>
          </a:p>
          <a:p>
            <a:pPr>
              <a:buClr>
                <a:srgbClr val="8D87A6"/>
              </a:buClr>
            </a:pPr>
            <a:r>
              <a:rPr lang="en-US" sz="1800" dirty="0">
                <a:ea typeface="+mn-lt"/>
                <a:cs typeface="+mn-lt"/>
              </a:rPr>
              <a:t>7.PREVIOUS ROLES </a:t>
            </a:r>
          </a:p>
          <a:p>
            <a:pPr>
              <a:buClr>
                <a:srgbClr val="8D87A6"/>
              </a:buClr>
            </a:pPr>
            <a:r>
              <a:rPr lang="en-US" sz="1800" dirty="0">
                <a:ea typeface="+mn-lt"/>
                <a:cs typeface="+mn-lt"/>
              </a:rPr>
              <a:t>8.PROJECTS AND ACHIEVEMENTS </a:t>
            </a:r>
          </a:p>
          <a:p>
            <a:pPr marL="0" indent="0">
              <a:buClr>
                <a:srgbClr val="8D87A6"/>
              </a:buClr>
              <a:buNone/>
            </a:pPr>
            <a:r>
              <a:rPr lang="en-US" sz="1800" dirty="0"/>
              <a:t>   These are the main inputs of AI College counselor</a:t>
            </a:r>
          </a:p>
        </p:txBody>
      </p:sp>
    </p:spTree>
    <p:extLst>
      <p:ext uri="{BB962C8B-B14F-4D97-AF65-F5344CB8AC3E}">
        <p14:creationId xmlns:p14="http://schemas.microsoft.com/office/powerpoint/2010/main" val="361732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FEA1E-1DA0-E1C3-1D4D-8AC7C095246A}"/>
              </a:ext>
            </a:extLst>
          </p:cNvPr>
          <p:cNvSpPr txBox="1"/>
          <p:nvPr/>
        </p:nvSpPr>
        <p:spPr>
          <a:xfrm>
            <a:off x="762000" y="821029"/>
            <a:ext cx="9573295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rtl="0">
              <a:buFont typeface=""/>
              <a:buChar char="•"/>
            </a:pPr>
            <a:r>
              <a:rPr lang="en-US" sz="2800" baseline="0" dirty="0">
                <a:solidFill>
                  <a:srgbClr val="2A2735"/>
                </a:solidFill>
                <a:latin typeface="Grandview"/>
                <a:ea typeface="Arial"/>
                <a:cs typeface="Arial"/>
              </a:rPr>
              <a:t>1.Recommended Career Paths </a:t>
            </a:r>
            <a:r>
              <a:rPr lang="en-US" sz="2800" dirty="0">
                <a:latin typeface="Grandview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800" baseline="0" dirty="0">
                <a:solidFill>
                  <a:srgbClr val="2A2735"/>
                </a:solidFill>
                <a:latin typeface="Grandview"/>
                <a:ea typeface="Arial"/>
                <a:cs typeface="Arial"/>
              </a:rPr>
              <a:t>2. Recommended Courses</a:t>
            </a:r>
            <a:r>
              <a:rPr lang="en-US" sz="2800" dirty="0">
                <a:latin typeface="Grandview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800" baseline="0" dirty="0">
                <a:solidFill>
                  <a:srgbClr val="2A2735"/>
                </a:solidFill>
                <a:latin typeface="Grandview"/>
                <a:ea typeface="Arial"/>
                <a:cs typeface="Arial"/>
              </a:rPr>
              <a:t>3.Career Roadmap </a:t>
            </a:r>
            <a:r>
              <a:rPr lang="en-US" sz="2800" dirty="0">
                <a:latin typeface="Grandview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800" baseline="0" dirty="0">
                <a:solidFill>
                  <a:srgbClr val="2A2735"/>
                </a:solidFill>
                <a:latin typeface="Grandview"/>
                <a:ea typeface="Arial"/>
                <a:cs typeface="Arial"/>
              </a:rPr>
              <a:t>4. Job opportunities </a:t>
            </a:r>
            <a:r>
              <a:rPr lang="en-US" sz="2800" dirty="0">
                <a:latin typeface="Grandview"/>
                <a:ea typeface="Arial"/>
                <a:cs typeface="Arial"/>
              </a:rPr>
              <a:t>​</a:t>
            </a:r>
          </a:p>
          <a:p>
            <a:pPr marL="228600" lvl="0" indent="-228600" rtl="0">
              <a:buFont typeface=""/>
              <a:buChar char="•"/>
            </a:pPr>
            <a:r>
              <a:rPr lang="en-US" sz="2800" baseline="0" dirty="0">
                <a:solidFill>
                  <a:srgbClr val="2A2735"/>
                </a:solidFill>
                <a:latin typeface="Grandview"/>
                <a:ea typeface="Arial"/>
                <a:cs typeface="Arial"/>
              </a:rPr>
              <a:t>5. Available Courses </a:t>
            </a:r>
            <a:r>
              <a:rPr lang="en-US" sz="2800" dirty="0">
                <a:latin typeface="Grandview"/>
                <a:ea typeface="Arial"/>
                <a:cs typeface="Arial"/>
              </a:rPr>
              <a:t>​</a:t>
            </a:r>
          </a:p>
          <a:p>
            <a:pPr rtl="0"/>
            <a:r>
              <a:rPr lang="en-US" sz="2800" baseline="0" dirty="0">
                <a:solidFill>
                  <a:srgbClr val="2A2735"/>
                </a:solidFill>
                <a:latin typeface="Grandview"/>
                <a:ea typeface="Segoe UI"/>
                <a:cs typeface="Segoe UI"/>
              </a:rPr>
              <a:t>    These are some outputs of the AI College counselor .</a:t>
            </a:r>
            <a:r>
              <a:rPr lang="en-US" sz="2800" dirty="0">
                <a:latin typeface="Grandview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50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F87C-0439-D244-F3F5-E062E5E87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EC112-48E3-5617-EC14-3E76F4E77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Implementation Steps (AI College Counselor)</a:t>
            </a:r>
            <a:endParaRPr lang="en-US" dirty="0"/>
          </a:p>
          <a:p>
            <a:pPr>
              <a:buClr>
                <a:srgbClr val="8D87A6"/>
              </a:buClr>
            </a:pPr>
            <a:r>
              <a:rPr lang="en-US" b="1" dirty="0">
                <a:ea typeface="+mn-lt"/>
                <a:cs typeface="+mn-lt"/>
              </a:rPr>
              <a:t>Collect Data:</a:t>
            </a:r>
            <a:r>
              <a:rPr lang="en-US" dirty="0">
                <a:ea typeface="+mn-lt"/>
                <a:cs typeface="+mn-lt"/>
              </a:rPr>
              <a:t> student records, interests, psychometrics, course catalogs, job trends</a:t>
            </a:r>
            <a:endParaRPr lang="en-US" dirty="0"/>
          </a:p>
          <a:p>
            <a:pPr>
              <a:buClr>
                <a:srgbClr val="8D87A6"/>
              </a:buClr>
            </a:pPr>
            <a:r>
              <a:rPr lang="en-US" b="1" dirty="0">
                <a:ea typeface="+mn-lt"/>
                <a:cs typeface="+mn-lt"/>
              </a:rPr>
              <a:t>Preprocess:</a:t>
            </a:r>
            <a:r>
              <a:rPr lang="en-US" dirty="0">
                <a:ea typeface="+mn-lt"/>
                <a:cs typeface="+mn-lt"/>
              </a:rPr>
              <a:t> clean, anonymize, encode features</a:t>
            </a:r>
            <a:endParaRPr lang="en-US" dirty="0"/>
          </a:p>
          <a:p>
            <a:pPr>
              <a:buClr>
                <a:srgbClr val="8D87A6"/>
              </a:buClr>
            </a:pPr>
            <a:r>
              <a:rPr lang="en-US" b="1" dirty="0">
                <a:ea typeface="+mn-lt"/>
                <a:cs typeface="+mn-lt"/>
              </a:rPr>
              <a:t>Build Models:</a:t>
            </a:r>
            <a:r>
              <a:rPr lang="en-US" dirty="0">
                <a:ea typeface="+mn-lt"/>
                <a:cs typeface="+mn-lt"/>
              </a:rPr>
              <a:t> recommender (courses), classifier (career paths), chatbot (NLP/RAG)</a:t>
            </a:r>
            <a:endParaRPr lang="en-US" dirty="0"/>
          </a:p>
          <a:p>
            <a:pPr>
              <a:buClr>
                <a:srgbClr val="8D87A6"/>
              </a:buClr>
            </a:pPr>
            <a:r>
              <a:rPr lang="en-US" b="1" dirty="0">
                <a:ea typeface="+mn-lt"/>
                <a:cs typeface="+mn-lt"/>
              </a:rPr>
              <a:t>Train &amp; Evaluate:</a:t>
            </a:r>
            <a:r>
              <a:rPr lang="en-US" dirty="0">
                <a:ea typeface="+mn-lt"/>
                <a:cs typeface="+mn-lt"/>
              </a:rPr>
              <a:t> accuracy, precision/recall, user feedback</a:t>
            </a:r>
            <a:endParaRPr lang="en-US" dirty="0"/>
          </a:p>
          <a:p>
            <a:pPr>
              <a:buClr>
                <a:srgbClr val="8D87A6"/>
              </a:buClr>
            </a:pPr>
            <a:r>
              <a:rPr lang="en-US" b="1" dirty="0">
                <a:ea typeface="+mn-lt"/>
                <a:cs typeface="+mn-lt"/>
              </a:rPr>
              <a:t>Deploy:</a:t>
            </a:r>
            <a:r>
              <a:rPr lang="en-US" dirty="0">
                <a:ea typeface="+mn-lt"/>
                <a:cs typeface="+mn-lt"/>
              </a:rPr>
              <a:t> API + interface, secure access &amp; privacy controls</a:t>
            </a:r>
            <a:endParaRPr lang="en-US" dirty="0"/>
          </a:p>
          <a:p>
            <a:pPr>
              <a:buClr>
                <a:srgbClr val="8D87A6"/>
              </a:buClr>
            </a:pPr>
            <a:r>
              <a:rPr lang="en-US" b="1" dirty="0">
                <a:ea typeface="+mn-lt"/>
                <a:cs typeface="+mn-lt"/>
              </a:rPr>
              <a:t>Monitor:</a:t>
            </a:r>
            <a:r>
              <a:rPr lang="en-US" dirty="0">
                <a:ea typeface="+mn-lt"/>
                <a:cs typeface="+mn-lt"/>
              </a:rPr>
              <a:t> update models, retrain, improve suggestions</a:t>
            </a:r>
            <a:endParaRPr lang="en-US" dirty="0"/>
          </a:p>
          <a:p>
            <a:pPr>
              <a:buClr>
                <a:srgbClr val="8D87A6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9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3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Right Triangle 1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40" name="Rectangle 139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366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54E614AE-0AF4-4BD2-8E0B-73FBE8DCB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B8105C3-4DBE-4883-9048-0EE6EB5429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CDE339D-FA55-4AC4-A7C1-878C69C7C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3FB1B16F-3480-4A66-BDC3-4575534F7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EBFA872-CAE3-4935-A4D6-A95EF783A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72DEF10-3B60-4CE6-BBB0-AE9720C63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37243FE-2205-411E-8146-5AB89EFF5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2C4A50C-E143-4C0E-BBA3-C28487367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FE6AB98-839F-4A23-B6D5-012034226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C84F273-2B88-4C3C-B62D-A77B15D173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15DC6F9-406D-40E2-8DA4-EF3BE74C1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694166EA-F9C2-4001-947E-0184E5BE8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548E686-B95B-4AC6-A476-6D0C2A023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76959206-9194-465A-BA1B-6518BACA12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628ACC4-C2C3-4E2E-8160-AE7598667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DF23B53-C2AE-481C-862A-9079B6B33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E9D5283-F872-45C7-8C8D-C1285F132E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8C54ED1-1A00-4C69-88C3-CE33199207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C58BC08-FE29-4E4C-BAD0-786AEC66A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6180F50-A3D8-443A-AA5E-5F3992E3C8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0BDA9DA-4A3F-4D40-A06B-2084ADC180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DF8F07D-6349-422D-9299-0F37276BA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D9482356-05E9-4396-BE29-CEFAFC552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EA41120-1FFC-4230-8CAA-8C4EBEE26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80AF636-FD4B-46A2-A092-AF99EAE8FA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4978AAD-FE97-41D9-92F9-C2AA2DAB5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96BB627E-BA0F-49FF-B11C-AE7E6F25D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C1C79B1-8245-4539-B4A0-768D953AA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06BAF04-5E1C-4F01-901B-54220DE8EC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EC42B76A-87E4-4D80-9035-90E6D92AE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ECF1CD0-0C3C-451E-9265-1A67D69AB4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557E246-0193-4463-B282-F303E2D90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2" name="Right Triangle 141">
            <a:extLst>
              <a:ext uri="{FF2B5EF4-FFF2-40B4-BE49-F238E27FC236}">
                <a16:creationId xmlns:a16="http://schemas.microsoft.com/office/drawing/2014/main" id="{D9E71EDE-8F07-4471-A964-1D28FDDB6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3268" y="-28414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D3BD7-6020-947D-DD26-3A064029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61" y="722903"/>
            <a:ext cx="10495904" cy="161878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OVERVIEW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8CBD1FD2-D355-E33D-32AA-D789762A2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5140" y="2889036"/>
            <a:ext cx="1899298" cy="326618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311665-B907-B810-0108-6BD27FAB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571" y="2835561"/>
            <a:ext cx="2019614" cy="3373135"/>
          </a:xfrm>
          <a:prstGeom prst="rect">
            <a:avLst/>
          </a:prstGeom>
        </p:spPr>
      </p:pic>
      <p:pic>
        <p:nvPicPr>
          <p:cNvPr id="7" name="Content Placeholder 6" descr="A screenshot of a chat&#10;&#10;AI-generated content may be incorrect.">
            <a:extLst>
              <a:ext uri="{FF2B5EF4-FFF2-40B4-BE49-F238E27FC236}">
                <a16:creationId xmlns:a16="http://schemas.microsoft.com/office/drawing/2014/main" id="{F1F02AE8-70E3-AD73-505E-D7021E758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337162" y="2889035"/>
            <a:ext cx="1872561" cy="3359766"/>
          </a:xfrm>
          <a:prstGeom prst="rect">
            <a:avLst/>
          </a:prstGeom>
        </p:spPr>
      </p:pic>
      <p:pic>
        <p:nvPicPr>
          <p:cNvPr id="4" name="Content Placeholder 3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41A48514-E74C-F250-ECE5-75FB48D59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13" y="2902403"/>
            <a:ext cx="1685402" cy="3373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58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F7B9026-36AD-42E4-B172-8D68F3A33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screenshot of a cellphone&#10;&#10;AI-generated content may be incorrect.">
            <a:extLst>
              <a:ext uri="{FF2B5EF4-FFF2-40B4-BE49-F238E27FC236}">
                <a16:creationId xmlns:a16="http://schemas.microsoft.com/office/drawing/2014/main" id="{4F672C34-95E4-9E50-3513-FF57E9F003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08" r="-1" b="14362"/>
          <a:stretch>
            <a:fillRect/>
          </a:stretch>
        </p:blipFill>
        <p:spPr>
          <a:xfrm>
            <a:off x="192528" y="171716"/>
            <a:ext cx="3793268" cy="6514565"/>
          </a:xfrm>
          <a:prstGeom prst="rect">
            <a:avLst/>
          </a:prstGeom>
        </p:spPr>
      </p:pic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356DC083-9993-B9F8-3B09-E3FD327398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21185"/>
          <a:stretch>
            <a:fillRect/>
          </a:stretch>
        </p:blipFill>
        <p:spPr>
          <a:xfrm>
            <a:off x="8168327" y="171716"/>
            <a:ext cx="3822924" cy="6514565"/>
          </a:xfrm>
          <a:prstGeom prst="rect">
            <a:avLst/>
          </a:prstGeom>
        </p:spPr>
      </p:pic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CBF4A35E-6202-914F-FF3E-A53A579964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690" r="-1" b="-1"/>
          <a:stretch>
            <a:fillRect/>
          </a:stretch>
        </p:blipFill>
        <p:spPr>
          <a:xfrm>
            <a:off x="4190874" y="171717"/>
            <a:ext cx="3799007" cy="66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965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screenshot of a cellphone&#10;&#10;AI-generated content may be incorrect.">
            <a:extLst>
              <a:ext uri="{FF2B5EF4-FFF2-40B4-BE49-F238E27FC236}">
                <a16:creationId xmlns:a16="http://schemas.microsoft.com/office/drawing/2014/main" id="{443472B4-D054-4866-02BA-18C494DA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86" r="-1" b="16577"/>
          <a:stretch>
            <a:fillRect/>
          </a:stretch>
        </p:blipFill>
        <p:spPr>
          <a:xfrm>
            <a:off x="838199" y="557188"/>
            <a:ext cx="3462131" cy="5751713"/>
          </a:xfrm>
          <a:prstGeom prst="rect">
            <a:avLst/>
          </a:prstGeom>
        </p:spPr>
      </p:pic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AD8D7E9-3BC5-8D8C-EA6F-12D15F11C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19267"/>
          <a:stretch>
            <a:fillRect/>
          </a:stretch>
        </p:blipFill>
        <p:spPr>
          <a:xfrm>
            <a:off x="4459582" y="557188"/>
            <a:ext cx="3295096" cy="5751713"/>
          </a:xfrm>
          <a:prstGeom prst="rect">
            <a:avLst/>
          </a:prstGeom>
        </p:spPr>
      </p:pic>
      <p:pic>
        <p:nvPicPr>
          <p:cNvPr id="4" name="Picture 3" descr="A screenshot of a cellphone&#10;&#10;AI-generated content may be incorrect.">
            <a:extLst>
              <a:ext uri="{FF2B5EF4-FFF2-40B4-BE49-F238E27FC236}">
                <a16:creationId xmlns:a16="http://schemas.microsoft.com/office/drawing/2014/main" id="{E9CE0899-245B-9D46-92D3-C11772FB77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666" r="1" b="1"/>
          <a:stretch>
            <a:fillRect/>
          </a:stretch>
        </p:blipFill>
        <p:spPr>
          <a:xfrm>
            <a:off x="7913930" y="557188"/>
            <a:ext cx="3439859" cy="575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32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52700-36C3-22D2-7023-0C39CF1E2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0CA97-752C-D4BF-5753-C1FEB8A5C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AI college counseling systems provide personalized guidance by analyzing student interests, academic data, and job-market trends. They make career and course selection easier, faster, and more accurate, while reducing manual workload for counselors. Although AI improves accessibility and decision-making, it should support—not replace—human experts to ensure ethical, unbiased, and well-informed student choices.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472328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CosineVTI</vt:lpstr>
      <vt:lpstr>AI COLLEGE COUNSELOR FOR PERSONALIZED CAREER AND COURSE ADVICE</vt:lpstr>
      <vt:lpstr>CONTENTS</vt:lpstr>
      <vt:lpstr>ABSTRACT</vt:lpstr>
      <vt:lpstr>KEYWORDS</vt:lpstr>
      <vt:lpstr>INTRODUCTION</vt:lpstr>
      <vt:lpstr>PowerPoint Presentation</vt:lpstr>
      <vt:lpstr>LITERATURE SURVEY</vt:lpstr>
      <vt:lpstr>DATA COLLECTION &amp; ALGORITHMS</vt:lpstr>
      <vt:lpstr>Algorithms</vt:lpstr>
      <vt:lpstr>PowerPoint Presentation</vt:lpstr>
      <vt:lpstr>PowerPoint Presentation</vt:lpstr>
      <vt:lpstr>PowerPoint Presentation</vt:lpstr>
      <vt:lpstr>PowerPoint Presentation</vt:lpstr>
      <vt:lpstr>INPUTS AND OUTPUTS</vt:lpstr>
      <vt:lpstr>PowerPoint Presentation</vt:lpstr>
      <vt:lpstr>IMPLEMENTATION </vt:lpstr>
      <vt:lpstr>OVERVIEW</vt:lpstr>
      <vt:lpstr>PowerPoint Presentation</vt:lpstr>
      <vt:lpstr>PowerPoint Presentation</vt:lpstr>
      <vt:lpstr>CONCLUSION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358</cp:revision>
  <dcterms:created xsi:type="dcterms:W3CDTF">2025-12-02T15:43:08Z</dcterms:created>
  <dcterms:modified xsi:type="dcterms:W3CDTF">2025-12-18T15:47:18Z</dcterms:modified>
</cp:coreProperties>
</file>